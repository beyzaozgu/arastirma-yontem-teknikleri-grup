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DM Serif Display" charset="1" panose="00000000000000000000"/>
      <p:regular r:id="rId18"/>
    </p:embeddedFont>
    <p:embeddedFont>
      <p:font typeface="Open Sans Light" charset="1" panose="020B0306030504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688568"/>
            <a:ext cx="15648633" cy="5186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41"/>
              </a:lnSpc>
            </a:pPr>
            <a:r>
              <a:rPr lang="en-US" sz="10797" spc="-215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Bilim Tarihinde Kadınların Gecikmiş Katılımı ; Engeller , Algılar ve Dönüşümler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77945" y="7271740"/>
            <a:ext cx="13683384" cy="551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7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4158167" y="7290790"/>
            <a:ext cx="3101133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49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Hacer MANTICI</a:t>
            </a:r>
          </a:p>
          <a:p>
            <a:pPr algn="l">
              <a:lnSpc>
                <a:spcPts val="3499"/>
              </a:lnSpc>
            </a:pPr>
            <a:r>
              <a:rPr lang="en-US" sz="2499" spc="49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Helin AYDOĞDU</a:t>
            </a:r>
          </a:p>
          <a:p>
            <a:pPr algn="l">
              <a:lnSpc>
                <a:spcPts val="3499"/>
              </a:lnSpc>
            </a:pPr>
            <a:r>
              <a:rPr lang="en-US" sz="2499" spc="49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Beyza ÖZGÜ</a:t>
            </a:r>
          </a:p>
          <a:p>
            <a:pPr algn="l">
              <a:lnSpc>
                <a:spcPts val="3499"/>
              </a:lnSpc>
            </a:pPr>
            <a:r>
              <a:rPr lang="en-US" sz="2499" spc="49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Ayşe Betül GÜMÜŞ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1028700" y="1028700"/>
            <a:ext cx="1611788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0">
            <a:off x="1028700" y="9258300"/>
            <a:ext cx="1611788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0">
            <a:off x="1028700" y="1829580"/>
            <a:ext cx="1611788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2429251"/>
            <a:ext cx="1611788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28700" y="1028700"/>
            <a:ext cx="1611788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148151" y="2695951"/>
            <a:ext cx="13991699" cy="7052234"/>
          </a:xfrm>
          <a:custGeom>
            <a:avLst/>
            <a:gdLst/>
            <a:ahLst/>
            <a:cxnLst/>
            <a:rect r="r" b="b" t="t" l="l"/>
            <a:pathLst>
              <a:path h="7052234" w="13991699">
                <a:moveTo>
                  <a:pt x="0" y="0"/>
                </a:moveTo>
                <a:lnTo>
                  <a:pt x="13991698" y="0"/>
                </a:lnTo>
                <a:lnTo>
                  <a:pt x="13991698" y="7052234"/>
                </a:lnTo>
                <a:lnTo>
                  <a:pt x="0" y="7052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36" t="0" r="-2843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68363" y="1340508"/>
            <a:ext cx="16838557" cy="834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4"/>
              </a:lnSpc>
            </a:pPr>
            <a:r>
              <a:rPr lang="en-US" sz="5787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Eğitim Durumuna Göre İşsizlik Oranları Analizi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2429251"/>
            <a:ext cx="1611788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28700" y="1028700"/>
            <a:ext cx="1611788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7498" y="2695951"/>
            <a:ext cx="16479422" cy="6964285"/>
          </a:xfrm>
          <a:custGeom>
            <a:avLst/>
            <a:gdLst/>
            <a:ahLst/>
            <a:cxnLst/>
            <a:rect r="r" b="b" t="t" l="l"/>
            <a:pathLst>
              <a:path h="6964285" w="16479422">
                <a:moveTo>
                  <a:pt x="0" y="0"/>
                </a:moveTo>
                <a:lnTo>
                  <a:pt x="16479422" y="0"/>
                </a:lnTo>
                <a:lnTo>
                  <a:pt x="16479422" y="6964285"/>
                </a:lnTo>
                <a:lnTo>
                  <a:pt x="0" y="6964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83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68363" y="1340508"/>
            <a:ext cx="16838557" cy="834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4"/>
              </a:lnSpc>
            </a:pPr>
            <a:r>
              <a:rPr lang="en-US" sz="5787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Eğitim Durumuna Göre İşsizlik Oranları Analizi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29347"/>
            <a:ext cx="12601114" cy="2083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2"/>
              </a:lnSpc>
            </a:pPr>
            <a:r>
              <a:rPr lang="en-US" sz="72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Eği</a:t>
            </a:r>
            <a:r>
              <a:rPr lang="en-US" sz="72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tim Durumuna Göre İşsizlik Oranları Analizi Yorumu</a:t>
            </a:r>
          </a:p>
        </p:txBody>
      </p:sp>
      <p:sp>
        <p:nvSpPr>
          <p:cNvPr name="AutoShape 3" id="3"/>
          <p:cNvSpPr/>
          <p:nvPr/>
        </p:nvSpPr>
        <p:spPr>
          <a:xfrm rot="-5400000">
            <a:off x="10815407" y="2814407"/>
            <a:ext cx="10287000" cy="4658186"/>
          </a:xfrm>
          <a:prstGeom prst="rect">
            <a:avLst/>
          </a:prstGeom>
          <a:solidFill>
            <a:srgbClr val="EDECED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816870" y="4116494"/>
            <a:ext cx="12601114" cy="3361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6"/>
              </a:lnSpc>
            </a:pPr>
            <a:r>
              <a:rPr lang="en-US" sz="274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Ortalama İşsizlik Oranı (2023): Kadınlar için = 12.6%, Erkekler için = 8.1%.</a:t>
            </a:r>
          </a:p>
          <a:p>
            <a:pPr algn="l">
              <a:lnSpc>
                <a:spcPts val="3847"/>
              </a:lnSpc>
            </a:pPr>
            <a:r>
              <a:rPr lang="en-US" sz="2748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Fark Analizi: Lise ve Mesleki veya Teknik Lise mezunu kadınların işsizlik oranları, aynı eğitim seviyesindeki erkeklere göre = 8.7\% ve = 10.6% daha yüksektir. Yükseköğretim mezunu kadınların işsizlik oranı ise erkeklerden = 7.3% daha yüksektir. </a:t>
            </a:r>
          </a:p>
          <a:p>
            <a:pPr algn="l">
              <a:lnSpc>
                <a:spcPts val="3847"/>
              </a:lnSpc>
            </a:pPr>
            <a:r>
              <a:rPr lang="en-US" sz="2748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Okur Yazar Olmayan kategorisinde ise erkeklerin işsizlik oranı kadınlardan daha yüksektir (Fark: -6.2%).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1028700" y="3735494"/>
            <a:ext cx="11515178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2429251"/>
            <a:ext cx="1611788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28700" y="1028700"/>
            <a:ext cx="1611788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434014"/>
            <a:ext cx="15757851" cy="7524374"/>
          </a:xfrm>
          <a:custGeom>
            <a:avLst/>
            <a:gdLst/>
            <a:ahLst/>
            <a:cxnLst/>
            <a:rect r="r" b="b" t="t" l="l"/>
            <a:pathLst>
              <a:path h="7524374" w="15757851">
                <a:moveTo>
                  <a:pt x="0" y="0"/>
                </a:moveTo>
                <a:lnTo>
                  <a:pt x="15757851" y="0"/>
                </a:lnTo>
                <a:lnTo>
                  <a:pt x="15757851" y="7524374"/>
                </a:lnTo>
                <a:lnTo>
                  <a:pt x="0" y="75243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12404" y="1410516"/>
            <a:ext cx="16663193" cy="761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95"/>
              </a:lnSpc>
            </a:pPr>
            <a:r>
              <a:rPr lang="en-US" sz="531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Karar Alma Mekanizmalarında Temsil Oranları Analizi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4430" y="1232705"/>
            <a:ext cx="13660265" cy="2083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2"/>
              </a:lnSpc>
            </a:pPr>
            <a:r>
              <a:rPr lang="en-US" sz="72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Karar Al</a:t>
            </a:r>
            <a:r>
              <a:rPr lang="en-US" sz="72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ma Mekanizmalarında Temsil Oranları Analizi Yorumu</a:t>
            </a:r>
          </a:p>
        </p:txBody>
      </p:sp>
      <p:sp>
        <p:nvSpPr>
          <p:cNvPr name="AutoShape 3" id="3"/>
          <p:cNvSpPr/>
          <p:nvPr/>
        </p:nvSpPr>
        <p:spPr>
          <a:xfrm rot="-5400000">
            <a:off x="10815407" y="2814407"/>
            <a:ext cx="10287000" cy="4658186"/>
          </a:xfrm>
          <a:prstGeom prst="rect">
            <a:avLst/>
          </a:prstGeom>
          <a:solidFill>
            <a:srgbClr val="EDECED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534430" y="4116494"/>
            <a:ext cx="12601114" cy="384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3253" indent="-296627" lvl="1">
              <a:lnSpc>
                <a:spcPts val="3846"/>
              </a:lnSpc>
              <a:buFont typeface="Arial"/>
              <a:buChar char="•"/>
            </a:pPr>
            <a:r>
              <a:rPr lang="en-US" sz="274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Türkiye'de kadınların kar</a:t>
            </a:r>
            <a:r>
              <a:rPr lang="en-US" sz="274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ar alma mekanizmalarındaki temsil oranı, incelenen pozisyonlarda oldukça düşüktür.</a:t>
            </a:r>
          </a:p>
          <a:p>
            <a:pPr algn="l" marL="593253" indent="-296627" lvl="1">
              <a:lnSpc>
                <a:spcPts val="3846"/>
              </a:lnSpc>
              <a:buFont typeface="Arial"/>
              <a:buChar char="•"/>
            </a:pPr>
            <a:r>
              <a:rPr lang="en-US" sz="274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En düşük temsil oranları Muhtarlıkta (%3.3) ve Devlet Üniversitesi Rektörlüğünde (%3.9)  görülmektedir.</a:t>
            </a:r>
          </a:p>
          <a:p>
            <a:pPr algn="l" marL="593253" indent="-296627" lvl="1">
              <a:lnSpc>
                <a:spcPts val="3846"/>
              </a:lnSpc>
              <a:buFont typeface="Arial"/>
              <a:buChar char="•"/>
            </a:pPr>
            <a:r>
              <a:rPr lang="en-US" sz="274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En yüksek temsil, karşılaştırma amaçlı verilen AB Üye Ülkeleri Siyasi Temsil </a:t>
            </a:r>
            <a:r>
              <a:rPr lang="en-US" sz="274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Ortalaması'dır (%33.6). Türkiye'deki siyasi temsil (%19.9)  bu ortalamanın oldukça gerisindedir.</a:t>
            </a:r>
          </a:p>
          <a:p>
            <a:pPr algn="l">
              <a:lnSpc>
                <a:spcPts val="3847"/>
              </a:lnSpc>
            </a:pPr>
          </a:p>
        </p:txBody>
      </p:sp>
      <p:sp>
        <p:nvSpPr>
          <p:cNvPr name="AutoShape 5" id="5"/>
          <p:cNvSpPr/>
          <p:nvPr/>
        </p:nvSpPr>
        <p:spPr>
          <a:xfrm rot="0">
            <a:off x="1028700" y="3735494"/>
            <a:ext cx="11515178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2429251"/>
            <a:ext cx="1611788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28700" y="1028700"/>
            <a:ext cx="1611788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877414" y="2434014"/>
            <a:ext cx="14994849" cy="7609886"/>
          </a:xfrm>
          <a:custGeom>
            <a:avLst/>
            <a:gdLst/>
            <a:ahLst/>
            <a:cxnLst/>
            <a:rect r="r" b="b" t="t" l="l"/>
            <a:pathLst>
              <a:path h="7609886" w="14994849">
                <a:moveTo>
                  <a:pt x="0" y="0"/>
                </a:moveTo>
                <a:lnTo>
                  <a:pt x="14994848" y="0"/>
                </a:lnTo>
                <a:lnTo>
                  <a:pt x="14994848" y="7609885"/>
                </a:lnTo>
                <a:lnTo>
                  <a:pt x="0" y="76098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12404" y="1410516"/>
            <a:ext cx="16663193" cy="761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95"/>
              </a:lnSpc>
            </a:pPr>
            <a:r>
              <a:rPr lang="en-US" sz="531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Eğitim İstatistikleri Analizi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4430" y="1232705"/>
            <a:ext cx="12009448" cy="2083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2"/>
              </a:lnSpc>
            </a:pPr>
            <a:r>
              <a:rPr lang="en-US" sz="72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Eğiti</a:t>
            </a:r>
            <a:r>
              <a:rPr lang="en-US" sz="72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 İstatistikleri Analizi Yorumu</a:t>
            </a:r>
          </a:p>
        </p:txBody>
      </p:sp>
      <p:sp>
        <p:nvSpPr>
          <p:cNvPr name="AutoShape 3" id="3"/>
          <p:cNvSpPr/>
          <p:nvPr/>
        </p:nvSpPr>
        <p:spPr>
          <a:xfrm rot="-5400000">
            <a:off x="10815407" y="2814407"/>
            <a:ext cx="10287000" cy="4658186"/>
          </a:xfrm>
          <a:prstGeom prst="rect">
            <a:avLst/>
          </a:prstGeom>
          <a:solidFill>
            <a:srgbClr val="EDECED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534430" y="4116494"/>
            <a:ext cx="12601114" cy="4327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3349" indent="-296674" lvl="1">
              <a:lnSpc>
                <a:spcPts val="3847"/>
              </a:lnSpc>
              <a:buFont typeface="Arial"/>
              <a:buChar char="•"/>
            </a:pPr>
            <a:r>
              <a:rPr lang="en-US" sz="2748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İlkokul Mezunlarında kadınların oranı erkeklerden belirgin şekilde daha yüksektir (Kadın: %26.3, Erkek: %17.4).</a:t>
            </a:r>
          </a:p>
          <a:p>
            <a:pPr algn="l" marL="593349" indent="-296674" lvl="1">
              <a:lnSpc>
                <a:spcPts val="3847"/>
              </a:lnSpc>
              <a:buFont typeface="Arial"/>
              <a:buChar char="•"/>
            </a:pPr>
            <a:r>
              <a:rPr lang="en-US" sz="2748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Okuma Yazma Bilmeyen nüfusta kadınların oranı çok daha yüksektir (Kadın: %5.4, Erkek: %0.8).</a:t>
            </a:r>
          </a:p>
          <a:p>
            <a:pPr algn="l" marL="593349" indent="-296674" lvl="1">
              <a:lnSpc>
                <a:spcPts val="3847"/>
              </a:lnSpc>
              <a:buFont typeface="Arial"/>
              <a:buChar char="•"/>
            </a:pPr>
            <a:r>
              <a:rPr lang="en-US" sz="2748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Lise ve Yükseköğretim mezunlarında erkeklerin oranı kadınlardan daha yüksektir (Örn: Lise'de Erkek: %27.8, Kadın: %19.4). Bu, düşük eğitim seviyelerinde kadınların, yüksek eğitim seviyelerinde ise erkeklerin daha yoğun olduğunu göstermektedir.</a:t>
            </a:r>
          </a:p>
          <a:p>
            <a:pPr algn="l">
              <a:lnSpc>
                <a:spcPts val="3847"/>
              </a:lnSpc>
            </a:pPr>
          </a:p>
        </p:txBody>
      </p:sp>
      <p:sp>
        <p:nvSpPr>
          <p:cNvPr name="AutoShape 5" id="5"/>
          <p:cNvSpPr/>
          <p:nvPr/>
        </p:nvSpPr>
        <p:spPr>
          <a:xfrm rot="0">
            <a:off x="1028700" y="3735494"/>
            <a:ext cx="11515178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2429251"/>
            <a:ext cx="1611788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28700" y="1028700"/>
            <a:ext cx="1611788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54780" y="2545996"/>
            <a:ext cx="15178440" cy="7741004"/>
          </a:xfrm>
          <a:custGeom>
            <a:avLst/>
            <a:gdLst/>
            <a:ahLst/>
            <a:cxnLst/>
            <a:rect r="r" b="b" t="t" l="l"/>
            <a:pathLst>
              <a:path h="7741004" w="15178440">
                <a:moveTo>
                  <a:pt x="0" y="0"/>
                </a:moveTo>
                <a:lnTo>
                  <a:pt x="15178440" y="0"/>
                </a:lnTo>
                <a:lnTo>
                  <a:pt x="15178440" y="7741004"/>
                </a:lnTo>
                <a:lnTo>
                  <a:pt x="0" y="77410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12404" y="1410516"/>
            <a:ext cx="16663193" cy="761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95"/>
              </a:lnSpc>
            </a:pPr>
            <a:r>
              <a:rPr lang="en-US" sz="531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Yükseköğretimden Mezuniyet Alanları Analizi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4430" y="1232705"/>
            <a:ext cx="12601114" cy="2083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2"/>
              </a:lnSpc>
            </a:pPr>
            <a:r>
              <a:rPr lang="en-US" sz="72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Yükseköğreti</a:t>
            </a:r>
            <a:r>
              <a:rPr lang="en-US" sz="72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mden Mezuniyet Alanları Analizi Yorumu</a:t>
            </a:r>
          </a:p>
        </p:txBody>
      </p:sp>
      <p:sp>
        <p:nvSpPr>
          <p:cNvPr name="AutoShape 3" id="3"/>
          <p:cNvSpPr/>
          <p:nvPr/>
        </p:nvSpPr>
        <p:spPr>
          <a:xfrm rot="-5400000">
            <a:off x="10815407" y="2814407"/>
            <a:ext cx="10287000" cy="4658186"/>
          </a:xfrm>
          <a:prstGeom prst="rect">
            <a:avLst/>
          </a:prstGeom>
          <a:solidFill>
            <a:srgbClr val="EDECED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534430" y="4540154"/>
            <a:ext cx="12601114" cy="3361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3349" indent="-296674" lvl="1">
              <a:lnSpc>
                <a:spcPts val="3847"/>
              </a:lnSpc>
              <a:buFont typeface="Arial"/>
              <a:buChar char="•"/>
            </a:pPr>
            <a:r>
              <a:rPr lang="en-US" sz="2748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BTM (Bilim, Teknoloji, Mühendislik, Matematik) Alanları: Mezunların büyük çoğunluğunu erkekler oluşturmaktadır (%66). Kadınların oranı %34'tür.</a:t>
            </a:r>
          </a:p>
          <a:p>
            <a:pPr algn="l" marL="593349" indent="-296674" lvl="1">
              <a:lnSpc>
                <a:spcPts val="3847"/>
              </a:lnSpc>
              <a:buFont typeface="Arial"/>
              <a:buChar char="•"/>
            </a:pPr>
            <a:r>
              <a:rPr lang="en-US" sz="2748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Eğiti</a:t>
            </a:r>
            <a:r>
              <a:rPr lang="en-US" sz="2748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m ve Sağlık Alanları: Bu alanlarda kadınların yoğunlaştığı açıkça görülmektedir (%72). Erkeklerin oranı ise %28'dir.</a:t>
            </a:r>
          </a:p>
          <a:p>
            <a:pPr algn="l" marL="593349" indent="-296674" lvl="1">
              <a:lnSpc>
                <a:spcPts val="3847"/>
              </a:lnSpc>
              <a:buFont typeface="Arial"/>
              <a:buChar char="•"/>
            </a:pPr>
            <a:r>
              <a:rPr lang="en-US" sz="2748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Bu analizler, Türkiye'deki işgücü, eğitim ve temsil alanlarındaki cinsiyet eşitsizliklerini farklı boyutlarda ortaya koymaktadır.</a:t>
            </a:r>
          </a:p>
          <a:p>
            <a:pPr algn="l">
              <a:lnSpc>
                <a:spcPts val="3847"/>
              </a:lnSpc>
            </a:pPr>
          </a:p>
        </p:txBody>
      </p:sp>
      <p:sp>
        <p:nvSpPr>
          <p:cNvPr name="AutoShape 5" id="5"/>
          <p:cNvSpPr/>
          <p:nvPr/>
        </p:nvSpPr>
        <p:spPr>
          <a:xfrm rot="0">
            <a:off x="1028700" y="3735494"/>
            <a:ext cx="11515178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501158"/>
            <a:ext cx="16230600" cy="973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7"/>
              </a:lnSpc>
            </a:pPr>
            <a:r>
              <a:rPr lang="en-US" sz="2798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A. E. Yılmaz ve B. S. Ka</a:t>
            </a:r>
            <a:r>
              <a:rPr lang="en-US" sz="2798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ra, "Türkiye'de İşgücü Piyasasında Cinsiyet Eşitsizliğinin Analizi," İstatistik ve Yaşam Dergisi, cilt 45, no. 3, ss. 112-120, Haz. 2023.</a:t>
            </a:r>
          </a:p>
        </p:txBody>
      </p:sp>
      <p:sp>
        <p:nvSpPr>
          <p:cNvPr name="AutoShape 3" id="3"/>
          <p:cNvSpPr/>
          <p:nvPr/>
        </p:nvSpPr>
        <p:spPr>
          <a:xfrm rot="0">
            <a:off x="1028700" y="9258300"/>
            <a:ext cx="1611788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5029991" y="1239581"/>
            <a:ext cx="8115300" cy="1054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2"/>
              </a:lnSpc>
            </a:pPr>
            <a:r>
              <a:rPr lang="en-US" sz="72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Kaynakça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1028700" y="2429251"/>
            <a:ext cx="1611788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0">
            <a:off x="1028700" y="1028700"/>
            <a:ext cx="1611788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-5400000">
            <a:off x="12744841" y="1724213"/>
            <a:ext cx="1400551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-5400000">
            <a:off x="4032263" y="1733738"/>
            <a:ext cx="1400551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9258300"/>
            <a:ext cx="1611788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28700" y="1028700"/>
            <a:ext cx="1611788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823264" y="2734120"/>
            <a:ext cx="14641472" cy="4580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24"/>
              </a:lnSpc>
            </a:pPr>
            <a:r>
              <a:rPr lang="en-US" sz="13160" spc="-263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Bizi Dinlediğiniz İçin Teşekkür Ederiz.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DAG6dkPh6CU</dc:identifier>
  <dcterms:modified xsi:type="dcterms:W3CDTF">2011-08-01T06:04:30Z</dcterms:modified>
  <cp:revision>1</cp:revision>
  <dc:title>BBilim Tarihinde Kadınların Gecikmiş Katılımı ; Engeller , Algılar ve Dönüşümler</dc:title>
</cp:coreProperties>
</file>